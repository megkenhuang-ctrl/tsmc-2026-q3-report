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05840"/>
            <a:ext cx="3840480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TSMC 2330.TW / TSM  |  2026 Q3 法說會深度追蹤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 2026 Q3 法說會實績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Q2/Q3 指標達成率比對報告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結合 NotebookLM 筆記本內部財測紀錄（Q1/Q2 法說會、7月營收、凱基報告）與 2026/10/15 最新法說會數據交叉驗證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297680"/>
            <a:ext cx="246888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3Q26 美元營收 (達成率 103.4%)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US$467.2 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飛越財測高標 458 億美元 (+16.2% QoQ)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6160" y="4297680"/>
            <a:ext cx="246888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3Q26 毛利率 / 營益率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66.4% / 58.7%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703320" y="5349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營益率飛越高標 58% (達成率 103.0%)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4297680"/>
            <a:ext cx="246888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3Q26 每股盈餘 (EPS)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508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NT$29.43 元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55080" y="5349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稅後純益 7,630.6 億元，雙創歷史新高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4297680"/>
            <a:ext cx="2468880" cy="1691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06840" y="4434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全年美元營收成長率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006840" y="4800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三度上修至 ~44%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006840" y="5349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由年初 ~30% → &gt;30% → &gt;40% → ~44%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626364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報告產出日期：2026 年 10 月 18 日   |   資料基準：台積電 3Q26 法說會 (2026/10/15) &amp; NotebookLM 知識庫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一、 2026 第三季 (3Q26) 核心指標達成率總表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對比 NotebookLM 筆記本內載之 3Q26 財測指引（2026年7月法說會）與 10/15 公布之實際財報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資料來源：台積電 2026 Q1–Q3 法人說明會 &amp; NotebookLM 筆記本資料庫交叉比對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2 / 6</a:t>
            </a:r>
            <a:endParaRPr lang="en-US" sz="9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1143000"/>
                <a:gridCol w="1143000"/>
                <a:gridCol w="31363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財務指標項目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NotebookLM 內載 3Q26 財測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(7月法說會指引)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法說會實際數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(2026/10/15 公布)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對比中位數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對比高標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達成表現與關鍵評析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美元合併營收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446 ~ 458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452 億)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467.2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(季增16.2% / 年增41.2%)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103.36%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102.01%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飛越財測高標 +9.2 億美元，AI 與 N2/N3 需求超乎預期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新台幣合併營收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1.427兆 ~ 1.465兆元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1.446 兆)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兆 4,942.4 億元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(季增17.6% / 年增50.9%)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103.31%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101.95%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飛越財測高標 +286 億元，單季營收逼近 1.5 兆大關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 (Gross Margin)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65.0% ~ 67.0%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66.0%)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66.4%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(季減 1.3 ppts)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100.61%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(+0.4 ppt)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99.10%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(-0.6 ppt)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超越財測中位數；抵銷 2nm (N2) 初期量產成本稀釋效應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營業利益率 (OPM)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56.0% ~ 58.0%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57.0%)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58.7%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(季減 1.6 ppts)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102.98%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(+1.7 ppts)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101.21%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(+0.7 ppt)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飛越財測高標 58.0%，展現極佳營運槓桿與費用控管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美元兌新台幣匯率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32.00 (假設基準)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31.98 (實際平均)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99.94%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實際匯率與財測假設幾乎完全一致，無匯兌失真影響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稅後純益 / 每股盈餘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未提供官方區間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(2Q26 實績 EPS 27.25元)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7,630.6 億元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EPS 29.43 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季增 +8.0%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續創歷史新高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單季獲利逼近 8,000 億元，前三季累計 EPS 達 78.76 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03520"/>
            <a:ext cx="11091672" cy="9601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NotebookLM 筆記本「7月營收」進度交叉驗證：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筆記本來源《台積電七月營收優於預期》記錄：2026年7月營收為 NT$4,675.8 億元（MoM +5.6%, YoY +44.7%），當時已達成 Q3 財測中位數的 32.3%。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最終 3Q26 實績達 NT$1 兆 4,942.4 億元，換算 8、9 月平均單月營收高達 NT$5,133.3 億元，驗證下半年 AI 伺服器與蘋果新機備貨動能在季末加速衝高！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二、 第二季 (2Q26) 財測達成率回顧與三季成長軌跡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比對 NotebookLM 筆記本內《1Q26 Presentation》之 Q2 財測、Q2 實際表現與 Q3 最新季增幅度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資料來源：台積電 2026 Q1–Q3 法人說明會 &amp; NotebookLM 筆記本資料庫交叉比對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3 / 6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00200"/>
                <a:gridCol w="1691640"/>
                <a:gridCol w="1600200"/>
                <a:gridCol w="1508760"/>
                <a:gridCol w="160020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核心指標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1Q26 實際數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(筆記本 PDF 實績)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2Q26 財測指引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(筆記本 4月法說紀錄)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2Q26 實際數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(7月法說公布)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2Q26 達成率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/ 高標)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實際數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(10/15 法說公布)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vs 2Q26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季增減 (QoQ)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美元營收 (US$)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359.0 億美元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(財測 346-358億)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390 ~ 402 億美元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396 億)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402.0 億美元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(達財測最高標)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101.52% (中)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100.00% (高)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467.2 億美元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+16.2%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(+65.2 億美元)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台幣營收 (NT$)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兆 1,341.0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1.236兆 ~ 1.274兆元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(以匯率 31.7 折算)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兆 2,703.8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101.20% (中)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99.69% (高)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兆 4,942.4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+17.6%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(+2,238.6 億元)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 (GM)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66.2%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(財測 63-65%)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65.5% ~ 67.5%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66.5%)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67.7%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(超越財測高標)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101.80% (中)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100.30% (高)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66.4%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-1.3 ppts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(N2 初期量產稀釋)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營業利益率 (OPM)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58.1%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(財測 54-56%)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56.5% ~ 58.5%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(中位數 57.5%)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60.3%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(大超財測高標)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104.87% (中)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103.08% (高)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58.7%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-1.6 ppts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(仍優於Q3財測高標)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稅後純益 / EPS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5,724.8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EPS 22.08 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未提供官方區間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7,065.6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EPS 27.25 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QoQ +23.4%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7,630.6 億元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EPS 29.43 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+8.0%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(連三季創歷史新高)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63500" marR="63500" marT="76200" marB="76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892040"/>
            <a:ext cx="53949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2Q26 → 3Q26 營收與獲利動能解析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1520" y="53218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連續三季超越財測上緣：1Q26 ($35.9B vs 35.8B)、2Q26 ($40.2B vs 40.2B)、3Q26 ($46.72B vs 45.8B) 皆達陣或飛越財測高標。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2026 前三季累計營收達 NT$3 兆 8,987.2 億元，累計稅後純益達 NT$2 兆 0,421.0 億元，前三季累計 EPS 高達 78.76 元！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45352" y="4892040"/>
            <a:ext cx="5394960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4983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🔍 毛利率微調 (-1.3 ppts) 背後之結構原因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28232" y="53218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筆記本《鏡報》記載 Q1 法說會預告 Q2 毛利率衝高，實際 2Q26 毛利率果真創下 67.7% 驚人紀錄（超越高標 67.5%）。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3Q26 毛利率為 66.4%（仍高於財測中位數 66.0%），季減 1.3 ppts 完全符合管理層預期，主因 2 奈米 (N2) 進入初期量產爬坡帶來之折舊稀釋。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三、 先進製程與應用平台結構演變 (1Q26 → 2Q26 → 3Q26)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奈米 (N2) 於第三季強勢放量佔比跳升至 8%，HPC 營收佔比突破三分之二達 68%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資料來源：台積電 2026 Q1–Q3 法人說明會 &amp; NotebookLM 筆記本資料庫交叉比對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4 / 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🔬 晶圓銷售製程佔比演變 (By Technology)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822960"/>
                <a:gridCol w="822960"/>
                <a:gridCol w="822960"/>
                <a:gridCol w="1234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製程節點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1Q26 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(筆記本 PDF)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2Q26 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(初期導入)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(最新法說)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趨勢變化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奈米 (N2)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🚀 放量爬坡極快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奈米 (N3)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📈 躍居第一大主力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奈米 (N5)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~32%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維持滿載穩健貢獻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 奈米 (N7)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~11%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比重隨先進製程稀釋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先進製程合計 (≤7nm)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~76%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較 Q1 大增 +5 ppts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49834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2奈米 (N2) 里程碑：筆記本《The 2nm Era Arrives》預告 2026 進入 N2 時代，3Q26 單季即貢獻高達 8% 晶圓營收（約 US$37 億美元）。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3奈米 (N3) 擴張：由 1Q26 的 25% 大幅拉升至 3Q26 的 33%，受惠 AI 加速器與高階手機晶片全面轉進 N3P/N3E。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45352" y="1188720"/>
            <a:ext cx="53949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💻 應用平台營收佔比與季成長 (By Platform)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82296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應用平台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1Q26 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(筆記本 PDF)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佔比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(最新法說)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3Q26 季增率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(QoQ)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核心動能說明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高效能運算 (HPC)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+22%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GPU / ASIC 需求爆發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智慧型手機 (Smartphone)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+10%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旗艦新機備貨，營收穩增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車用電子 (Automotive)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+23%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ADAS / 自駕晶片需求回溫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物聯網 (IoT)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+5%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邊緣裝置溫和復甦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消費性電子 (DCE) &amp; 其他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DCE -12%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佔整體營收比重極低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0800" marR="50800" marT="63500" marB="635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6428232" y="498348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HPC 結構性統治：由 1Q26 的 61% 一路擴張至 3Q26 的 68%，單季營收季增 +22%，成為推動台積電創高的絕對引擎。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手機業務實質成長：雖然手機佔比由 26% 降至 21%，但單季絕對金額仍季增 +10%，係因 HPC 成長斜率過陡導致相對比重變化。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四、 2026 全年展望「三度上修」軌跡與資本支出比對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NotebookLM 1月凱基報告、4月法說、7月法說到 10月 Q3 法說會的全年目標調升歷程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資料來源：台積電 2026 Q1–Q3 法人說明會 &amp; NotebookLM 筆記本資料庫交叉比對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5 / 6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  <a:gridCol w="4142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評估時間點 / 資料來源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全年美元營收年增率預估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全年資本支出 (CapEx)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管理階層對 AI 需求與獲利之核心定調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年 1 月 (4Q25 法說)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[筆記本：KGI 凱基報告]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接近 30% (~30%)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(上修 5年 CAGR 至 25%)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520 ~ 560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需求是真的；長期毛利率目標由 53% 上調至 56% 以上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年 4 月 (1Q26 法說)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[筆記本：經濟日報 / 工商時報]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首度上修：超過 30% (&gt;30%)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520 ~ 560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(預估將靠攏高標 560 億)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需求依然「Tight (吃緊)」，正用盡所有方法擴產滿足客戶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年 7 月 (2Q26 法說)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[筆記本：七月營收分析筆記]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369A1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二度上修：超過 40% (&gt;40%)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30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上修至 600 ~ 640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加速執行擴產劇本，CoWoS 與 N2/N3 產能全面追趕需求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 年 10 月 (3Q26 法說)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[最新：2026/10/15 法說會]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🔥 三度上修：約 44% (~44%)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 600 ~ 640 億美元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(預告 2026-28 遠高於前三年)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魏哲家：「AI 需求極度強勁且遠大於供給，台積電獲利能力沒有天花板」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88900" marB="889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09160"/>
            <a:ext cx="11091672" cy="1554480"/>
          </a:xfrm>
          <a:prstGeom prst="roundRect">
            <a:avLst/>
          </a:pr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82803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全年目標上修與資本支出關鍵洞察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193792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全年營收成長率上修幅度高達 +14 個百分點：從年初預估「接近 30%」一路三度上修至「約 44%」，反映 AI 晶片與先進封裝產能開出速度優於預期。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資本支出較年初調升約 80 億美元 (+15%)：由 Q1 的 520~560 億美元調升至 600~640 億美元，並確認 2026–2028 三年資本支出將顯著超越過去三年的 1,010 億美元。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定價與毛利率防線：儘管海外廠（美、日）與 N2 初期量產帶來 2%~4% 毛利率稀釋，但透過技術價值定價與極高稼動率，全年毛利率穩守 66% 高檔。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五、 2026 第四季 (4Q26) 最新財測指引與策略總結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48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 10/15 法說會釋出之 4Q26 營運展望：單季營收挑戰 533 億美元（約 1.7 兆新台幣）續創新高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資料來源：台積電 2026 Q1–Q3 法人說明會 &amp; NotebookLM 筆記本資料庫交叉比對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6 / 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587752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34440"/>
            <a:ext cx="2587752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4Q26 美元營收財測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523 ~ 543 億美元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85800" y="21945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中位數 533 億美元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季增 +14.1% / 年增 +58%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234440"/>
            <a:ext cx="2587752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234440"/>
            <a:ext cx="2587752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371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4Q26 台幣營收折算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20440" y="169164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1.66兆 ~ 1.73兆元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520440" y="21945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匯率假設 1 USD = 31.8 NTD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中位數約 1 兆 6,949 億元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2587752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234440"/>
            <a:ext cx="2587752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371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4Q26 毛利率財測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169164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65.0% ~ 67.0%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355080" y="21945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中位數 66.0%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 65%+ 超高獲利結構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234440"/>
            <a:ext cx="2587752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234440"/>
            <a:ext cx="2587752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1371600"/>
            <a:ext cx="2313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4Q26 營業利益率財測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9720" y="1691640"/>
            <a:ext cx="2313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56.5% ~ 58.5%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89720" y="2194560"/>
            <a:ext cx="23134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中位數 57.5%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連四季維持 56%+ 高水準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200400"/>
            <a:ext cx="11091672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337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綜合結論：NotebookLM 筆記本預期 vs. 3Q26 實際成果驗證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7240" y="3794760"/>
            <a:ext cx="10607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【指標達成率滿分】無論是 2Q26 或 3Q26，台積電實際美元營收（Q2 達成率 101.5%、Q3 達成率 103.4%）與營業利益率（Q2 達成率 104.9%、Q3 達成率 103.0%）全面超越財測中位數並突破財測高標，驗證筆記本中「7月營收奠定挑戰高標基礎」的預判完全準確。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【2奈米 (N2) 商業化大成功】筆記本 Q1 資料中 N2 尚處於量產前準備，到了 3Q26 單季營收佔比已迅速衝上 8%（加計 3nm 33%、5nm 28%，先進製程佔比高達 79%），成為全球唯一能大規模量產 2 奈米與供應 AI 晶片的晶圓代工廠。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【AI 與 HPC 需求無天花板】HPC 佔比由 Q1 的 61% 擴大至 Q3 的 68%（單季季增 22%）。董事長魏哲家直指 AI 需求極度強勁且遠大於供給，全年美元營收成長率三度上修至 ~44%，4Q26 單季營收更將首度突破 523~543 億美元大關。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【中長期獲利預估持續上調】對照筆記本內 1 月份凱基報告（當時預估全年成長近 30%、CapEx 520-560 億美元），目前實際基本面已全面超越年初外資最樂觀情境。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TSMC Earnings Analysis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台積電 (2330) 2026 Q3 法說會實績與指標達成率分析</dc:title>
  <dc:subject>台積電 2026 Q3 法說會實績與 Q2/Q3 指標達成率比對報告</dc:subject>
  <dc:creator>Antigravity AI</dc:creator>
  <cp:lastModifiedBy>Antigravity AI</cp:lastModifiedBy>
  <cp:revision>1</cp:revision>
  <dcterms:created xsi:type="dcterms:W3CDTF">2026-10-18T03:05:54Z</dcterms:created>
  <dcterms:modified xsi:type="dcterms:W3CDTF">2026-10-18T03:05:54Z</dcterms:modified>
</cp:coreProperties>
</file>